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57" r:id="rId14"/>
    <p:sldId id="258" r:id="rId15"/>
    <p:sldId id="259" r:id="rId16"/>
    <p:sldId id="260" r:id="rId17"/>
    <p:sldId id="282" r:id="rId18"/>
    <p:sldId id="283" r:id="rId19"/>
    <p:sldId id="265" r:id="rId20"/>
    <p:sldId id="266" r:id="rId21"/>
    <p:sldId id="267" r:id="rId22"/>
    <p:sldId id="261" r:id="rId23"/>
    <p:sldId id="281" r:id="rId24"/>
    <p:sldId id="262" r:id="rId25"/>
    <p:sldId id="263" r:id="rId26"/>
    <p:sldId id="264" r:id="rId27"/>
    <p:sldId id="284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Unit 5</a:t>
            </a:r>
            <a:br>
              <a:rPr lang="en-US" b="1" dirty="0" smtClean="0"/>
            </a:br>
            <a:r>
              <a:rPr lang="en-US" b="1" dirty="0" smtClean="0"/>
              <a:t>Tree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5635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REPRESENTING BINARY TREES IN MEMORY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Linked representation</a:t>
            </a:r>
          </a:p>
          <a:p>
            <a:pPr marL="514350" indent="-514350">
              <a:buAutoNum type="arabicPeriod"/>
            </a:pPr>
            <a:r>
              <a:rPr lang="en-US" dirty="0" smtClean="0"/>
              <a:t>Array </a:t>
            </a:r>
            <a:r>
              <a:rPr lang="en-US" dirty="0" smtClean="0"/>
              <a:t>representation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Linked Representation of Binary Trees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Each </a:t>
            </a:r>
            <a:r>
              <a:rPr lang="en-US" dirty="0" smtClean="0"/>
              <a:t>node N of T will correspond to a location K such that: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INFO[K</a:t>
            </a:r>
            <a:r>
              <a:rPr lang="en-US" dirty="0" smtClean="0"/>
              <a:t>] contains the data at the node N.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LEFT[K</a:t>
            </a:r>
            <a:r>
              <a:rPr lang="en-US" dirty="0" smtClean="0"/>
              <a:t>] contains the location of the left child of node N.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(</a:t>
            </a:r>
            <a:r>
              <a:rPr lang="en-US" dirty="0" smtClean="0"/>
              <a:t>3) RIGHT[K] contains the location of the right child of node N</a:t>
            </a:r>
            <a:r>
              <a:rPr lang="en-US" dirty="0" smtClean="0"/>
              <a:t>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ROOT will contain the location of the root R of 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Linked Representation of Binary Trees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76400"/>
            <a:ext cx="436245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371600"/>
            <a:ext cx="38862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44562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Sequential Representation of Binary Trees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38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This representation uses only a single linear array TREE as follows: </a:t>
            </a:r>
            <a:endParaRPr lang="en-US" sz="2800" dirty="0" smtClean="0"/>
          </a:p>
          <a:p>
            <a:pPr marL="514350" indent="-514350">
              <a:buAutoNum type="alphaLcParenBoth"/>
            </a:pPr>
            <a:r>
              <a:rPr lang="en-US" sz="2800" dirty="0" smtClean="0"/>
              <a:t>The </a:t>
            </a:r>
            <a:r>
              <a:rPr lang="en-US" sz="2800" dirty="0" smtClean="0"/>
              <a:t>root R of T is stored in TREE[1]. </a:t>
            </a:r>
            <a:endParaRPr lang="en-US" sz="2800" dirty="0" smtClean="0"/>
          </a:p>
          <a:p>
            <a:pPr marL="514350" indent="-514350">
              <a:buAutoNum type="alphaLcParenBoth"/>
            </a:pPr>
            <a:r>
              <a:rPr lang="en-US" sz="2800" dirty="0" smtClean="0"/>
              <a:t>(</a:t>
            </a:r>
            <a:r>
              <a:rPr lang="en-US" sz="2800" dirty="0" smtClean="0"/>
              <a:t>b) If a node N occupies TREE[K], then its left child is stored in TREE[2 * K] and its right child is stored in TREE[2 * K + 1].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Sequential Representation of Binary Trees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57400" y="990600"/>
            <a:ext cx="5181600" cy="5790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457200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TRAVERSING 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61722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Preorder </a:t>
            </a:r>
          </a:p>
          <a:p>
            <a:pPr marL="514350" indent="-514350">
              <a:buAutoNum type="arabicParenBoth"/>
            </a:pPr>
            <a:r>
              <a:rPr lang="en-US" dirty="0" smtClean="0"/>
              <a:t>Process </a:t>
            </a:r>
            <a:r>
              <a:rPr lang="en-US" dirty="0" smtClean="0"/>
              <a:t>the root R.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Traverse </a:t>
            </a:r>
            <a:r>
              <a:rPr lang="en-US" dirty="0" smtClean="0"/>
              <a:t>the left </a:t>
            </a:r>
            <a:r>
              <a:rPr lang="en-US" dirty="0" err="1" smtClean="0"/>
              <a:t>subtree</a:t>
            </a:r>
            <a:r>
              <a:rPr lang="en-US" dirty="0" smtClean="0"/>
              <a:t> of R in preorder.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Traverse </a:t>
            </a:r>
            <a:r>
              <a:rPr lang="en-US" dirty="0" smtClean="0"/>
              <a:t>the right </a:t>
            </a:r>
            <a:r>
              <a:rPr lang="en-US" dirty="0" err="1" smtClean="0"/>
              <a:t>subtree</a:t>
            </a:r>
            <a:r>
              <a:rPr lang="en-US" dirty="0" smtClean="0"/>
              <a:t> of R in </a:t>
            </a:r>
            <a:r>
              <a:rPr lang="en-US" dirty="0" smtClean="0"/>
              <a:t>preorder.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err="1" smtClean="0"/>
              <a:t>Inorder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 </a:t>
            </a:r>
            <a:r>
              <a:rPr lang="en-US" dirty="0" smtClean="0"/>
              <a:t>(1) Traverse the left </a:t>
            </a:r>
            <a:r>
              <a:rPr lang="en-US" dirty="0" err="1" smtClean="0"/>
              <a:t>subtree</a:t>
            </a:r>
            <a:r>
              <a:rPr lang="en-US" dirty="0" smtClean="0"/>
              <a:t> of R in </a:t>
            </a:r>
            <a:r>
              <a:rPr lang="en-US" dirty="0" err="1" smtClean="0"/>
              <a:t>inorder</a:t>
            </a:r>
            <a:r>
              <a:rPr lang="en-US" dirty="0" smtClean="0"/>
              <a:t>. 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(</a:t>
            </a:r>
            <a:r>
              <a:rPr lang="en-US" dirty="0" smtClean="0"/>
              <a:t>2) Process the root R. 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(</a:t>
            </a:r>
            <a:r>
              <a:rPr lang="en-US" dirty="0" smtClean="0"/>
              <a:t>3) Traverse the right </a:t>
            </a:r>
            <a:r>
              <a:rPr lang="en-US" dirty="0" err="1" smtClean="0"/>
              <a:t>subtree</a:t>
            </a:r>
            <a:r>
              <a:rPr lang="en-US" dirty="0" smtClean="0"/>
              <a:t> of R in </a:t>
            </a:r>
            <a:r>
              <a:rPr lang="en-US" dirty="0" err="1" smtClean="0"/>
              <a:t>inorder</a:t>
            </a:r>
            <a:r>
              <a:rPr lang="en-US" dirty="0" smtClean="0"/>
              <a:t>. </a:t>
            </a: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err="1" smtClean="0"/>
              <a:t>Postorder</a:t>
            </a:r>
            <a:r>
              <a:rPr lang="en-US" dirty="0" smtClean="0"/>
              <a:t> </a:t>
            </a:r>
          </a:p>
          <a:p>
            <a:pPr marL="514350" indent="-514350">
              <a:buAutoNum type="arabicParenBoth"/>
            </a:pPr>
            <a:r>
              <a:rPr lang="en-US" dirty="0" smtClean="0"/>
              <a:t>Traverse </a:t>
            </a:r>
            <a:r>
              <a:rPr lang="en-US" dirty="0" smtClean="0"/>
              <a:t>the left </a:t>
            </a:r>
            <a:r>
              <a:rPr lang="en-US" dirty="0" err="1" smtClean="0"/>
              <a:t>subtree</a:t>
            </a:r>
            <a:r>
              <a:rPr lang="en-US" dirty="0" smtClean="0"/>
              <a:t> of R in </a:t>
            </a:r>
            <a:r>
              <a:rPr lang="en-US" dirty="0" err="1" smtClean="0"/>
              <a:t>postorder</a:t>
            </a:r>
            <a:r>
              <a:rPr lang="en-US" dirty="0" smtClean="0"/>
              <a:t>.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Traverse </a:t>
            </a:r>
            <a:r>
              <a:rPr lang="en-US" dirty="0" smtClean="0"/>
              <a:t>the right </a:t>
            </a:r>
            <a:r>
              <a:rPr lang="en-US" dirty="0" err="1" smtClean="0"/>
              <a:t>subtree</a:t>
            </a:r>
            <a:r>
              <a:rPr lang="en-US" dirty="0" smtClean="0"/>
              <a:t> of R in </a:t>
            </a:r>
            <a:r>
              <a:rPr lang="en-US" dirty="0" err="1" smtClean="0"/>
              <a:t>postorder</a:t>
            </a:r>
            <a:r>
              <a:rPr lang="en-US" dirty="0" smtClean="0"/>
              <a:t>. </a:t>
            </a:r>
            <a:endParaRPr lang="en-US" dirty="0" smtClean="0"/>
          </a:p>
          <a:p>
            <a:pPr marL="514350" indent="-514350">
              <a:buAutoNum type="arabicParenBoth"/>
            </a:pPr>
            <a:r>
              <a:rPr lang="en-US" dirty="0" smtClean="0"/>
              <a:t> Process the </a:t>
            </a:r>
            <a:r>
              <a:rPr lang="en-US" dirty="0" smtClean="0"/>
              <a:t>root 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7949" y="685800"/>
            <a:ext cx="8277489" cy="5960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8800" y="914400"/>
            <a:ext cx="5486400" cy="4294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5410200"/>
            <a:ext cx="823112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334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Preorder Traversal</a:t>
            </a:r>
            <a:endParaRPr lang="en-US" b="1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38400" y="4038600"/>
            <a:ext cx="3805237" cy="251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4800" y="914400"/>
            <a:ext cx="8610600" cy="3177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variable PTR (pointer) </a:t>
            </a:r>
            <a:r>
              <a:rPr lang="en-US" sz="2800" dirty="0" smtClean="0"/>
              <a:t>: contain </a:t>
            </a:r>
            <a:r>
              <a:rPr lang="en-US" sz="2800" dirty="0" smtClean="0"/>
              <a:t>the location of the node N currently being </a:t>
            </a:r>
            <a:r>
              <a:rPr lang="en-US" sz="2800" dirty="0" smtClean="0"/>
              <a:t>scanned</a:t>
            </a:r>
          </a:p>
          <a:p>
            <a:endParaRPr lang="en-US" sz="1100" dirty="0" smtClean="0"/>
          </a:p>
          <a:p>
            <a:r>
              <a:rPr lang="en-US" sz="2800" dirty="0" smtClean="0"/>
              <a:t>L(N) denotes the left child of node N and </a:t>
            </a:r>
            <a:endParaRPr lang="en-US" sz="2800" dirty="0" smtClean="0"/>
          </a:p>
          <a:p>
            <a:endParaRPr lang="en-US" sz="1050" dirty="0" smtClean="0"/>
          </a:p>
          <a:p>
            <a:r>
              <a:rPr lang="en-US" sz="2800" dirty="0" smtClean="0"/>
              <a:t>R(N</a:t>
            </a:r>
            <a:r>
              <a:rPr lang="en-US" sz="2800" dirty="0" smtClean="0"/>
              <a:t>) denotes the right child. </a:t>
            </a:r>
            <a:endParaRPr lang="en-US" sz="2800" dirty="0" smtClean="0"/>
          </a:p>
          <a:p>
            <a:endParaRPr lang="en-US" sz="1100" dirty="0" smtClean="0"/>
          </a:p>
          <a:p>
            <a:r>
              <a:rPr lang="en-US" sz="2800" dirty="0" smtClean="0"/>
              <a:t>STACK</a:t>
            </a:r>
            <a:r>
              <a:rPr lang="en-US" sz="2800" dirty="0" smtClean="0"/>
              <a:t>, which will hold the addresses of nodes for future processing.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Preorder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4343400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Algorithm: Initially push NULL onto STACK and then set PTR := ROOT.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Then </a:t>
            </a:r>
            <a:r>
              <a:rPr lang="en-US" dirty="0" smtClean="0"/>
              <a:t>repeat the following steps until PTR = NULL or, equivalently, while PTR ≠ NULL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(</a:t>
            </a:r>
            <a:r>
              <a:rPr lang="en-US" dirty="0" smtClean="0"/>
              <a:t>a) Proceed down the left-most path rooted at PTR, processing each node N on the path and pushing each right child R(N), if any, onto STACK. The traversing ends after a node N with no left child L(N) is processed. (Thus PTR is updated using the assignment PTR := LEFT[PTR], and the traversing stops when LEFT[PTR] = NULL.)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(</a:t>
            </a:r>
            <a:r>
              <a:rPr lang="en-US" dirty="0" smtClean="0"/>
              <a:t>b) [Backtracking.] Pop and assign to PTR the top element on STACK. If PTR ≠ NULL, then return to Step (a); otherwise Exit. (We note that the initial element NULL on STACK is used as a sentinel.) 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781145"/>
            <a:ext cx="2667000" cy="207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533400"/>
            <a:ext cx="4267200" cy="4714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9600" y="5105400"/>
            <a:ext cx="4285553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Straight Connector 8"/>
          <p:cNvCxnSpPr/>
          <p:nvPr/>
        </p:nvCxnSpPr>
        <p:spPr>
          <a:xfrm rot="5400000">
            <a:off x="1257300" y="3619500"/>
            <a:ext cx="6172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Inorder</a:t>
            </a:r>
            <a:r>
              <a:rPr lang="en-US" b="1" dirty="0" smtClean="0"/>
              <a:t> Traversal</a:t>
            </a:r>
            <a:endParaRPr lang="en-US" b="1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449579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5105399"/>
            <a:ext cx="2743200" cy="1735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1" y="762001"/>
            <a:ext cx="4212207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4439" y="5334000"/>
            <a:ext cx="4106161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Straight Connector 8"/>
          <p:cNvCxnSpPr/>
          <p:nvPr/>
        </p:nvCxnSpPr>
        <p:spPr>
          <a:xfrm rot="5400000">
            <a:off x="1599406" y="3657600"/>
            <a:ext cx="5791994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Post Order Traversal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381000"/>
            <a:ext cx="4190999" cy="4085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4648200"/>
            <a:ext cx="2828925" cy="1792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381000"/>
            <a:ext cx="46482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 rot="5400000">
            <a:off x="1333500" y="3619500"/>
            <a:ext cx="6477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0" y="76200"/>
            <a:ext cx="5943600" cy="6693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921936"/>
            <a:ext cx="2828925" cy="1792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62200" y="304800"/>
            <a:ext cx="33147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533400"/>
            <a:ext cx="332422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2675" y="5257800"/>
            <a:ext cx="3362325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Tree (BST)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4800600"/>
            <a:ext cx="5791200" cy="169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04800" y="1143000"/>
            <a:ext cx="8229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Average running time- O(log2 n)</a:t>
            </a:r>
          </a:p>
          <a:p>
            <a:endParaRPr lang="en-US" dirty="0" smtClean="0"/>
          </a:p>
          <a:p>
            <a:r>
              <a:rPr lang="en-US" dirty="0" smtClean="0"/>
              <a:t>Structures</a:t>
            </a:r>
          </a:p>
          <a:p>
            <a:pPr marL="342900" indent="-342900">
              <a:buAutoNum type="alphaLcParenR"/>
            </a:pPr>
            <a:r>
              <a:rPr lang="en-US" dirty="0" smtClean="0"/>
              <a:t>Sorted array</a:t>
            </a:r>
          </a:p>
          <a:p>
            <a:pPr marL="342900" indent="-342900">
              <a:buAutoNum type="alphaLcParenR"/>
            </a:pPr>
            <a:r>
              <a:rPr lang="en-US" dirty="0" smtClean="0"/>
              <a:t>Linked List</a:t>
            </a:r>
          </a:p>
          <a:p>
            <a:pPr marL="342900" indent="-342900">
              <a:buAutoNum type="alphaLcParenR"/>
            </a:pPr>
            <a:endParaRPr lang="en-US" dirty="0" smtClean="0"/>
          </a:p>
          <a:p>
            <a:pPr marL="342900" indent="-342900"/>
            <a:r>
              <a:rPr lang="en-US" dirty="0" smtClean="0"/>
              <a:t>Definition:</a:t>
            </a:r>
          </a:p>
          <a:p>
            <a:pPr marL="342900" indent="-342900"/>
            <a:r>
              <a:rPr lang="en-US" dirty="0" smtClean="0"/>
              <a:t>      Suppose T is binary tree. Then T is called a binary search tree (or binary sorted tree) if each node N of T has the following property: The value of N is greater than every value in the left subtree of N and is less than every value in the right subtree of N.</a:t>
            </a:r>
          </a:p>
          <a:p>
            <a:pPr marL="342900" indent="-342900"/>
            <a:endParaRPr lang="en-US" dirty="0" smtClean="0"/>
          </a:p>
          <a:p>
            <a:pPr marL="342900" indent="-342900"/>
            <a:r>
              <a:rPr lang="en-US" dirty="0" smtClean="0"/>
              <a:t>Example: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Searching and Inserting in Binary Search Tree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656" y="1600200"/>
            <a:ext cx="73146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/>
              <a:t>Item=20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905000"/>
            <a:ext cx="7309021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0" y="533400"/>
            <a:ext cx="59531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24" y="2014538"/>
            <a:ext cx="6879647" cy="324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"/>
            <a:ext cx="4519612" cy="198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905000"/>
            <a:ext cx="449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257800" y="1828800"/>
            <a:ext cx="3581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52399"/>
            <a:ext cx="5562600" cy="646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1738" y="523875"/>
            <a:ext cx="4200525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in a Binary Search Tree</a:t>
            </a: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429000"/>
            <a:ext cx="67056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701583"/>
            <a:ext cx="6962775" cy="1686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Case A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160324"/>
            <a:ext cx="7744078" cy="4173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371600"/>
            <a:ext cx="7132856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Case 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C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676400"/>
            <a:ext cx="7311820" cy="420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143000"/>
            <a:ext cx="76117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 tree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523999"/>
            <a:ext cx="5334000" cy="4126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Representation of an AVL </a:t>
            </a:r>
            <a:r>
              <a:rPr lang="en-US" dirty="0" err="1" smtClean="0"/>
              <a:t>Searc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19400" y="1981200"/>
            <a:ext cx="3276600" cy="3049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in an AVL search tree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904999"/>
            <a:ext cx="7772400" cy="290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 Rotation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599" y="1295400"/>
            <a:ext cx="8301703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447800"/>
            <a:ext cx="6858000" cy="4517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RR Rotation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17614" y="1371600"/>
            <a:ext cx="7035786" cy="507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62273" y="1295400"/>
            <a:ext cx="6257727" cy="5006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Maxheap</a:t>
            </a:r>
          </a:p>
          <a:p>
            <a:r>
              <a:rPr lang="en-US" dirty="0" smtClean="0"/>
              <a:t>Minheap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Inserting into a Heap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153400" cy="232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533400"/>
            <a:ext cx="6019800" cy="2206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3048000"/>
            <a:ext cx="46482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066800"/>
            <a:ext cx="50863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1676400"/>
            <a:ext cx="5029200" cy="4951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the root of Heap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28800"/>
            <a:ext cx="7873266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Reheaping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752600"/>
            <a:ext cx="4505325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581</Words>
  <Application>Microsoft Office PowerPoint</Application>
  <PresentationFormat>On-screen Show (4:3)</PresentationFormat>
  <Paragraphs>82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Unit 5 Tree</vt:lpstr>
      <vt:lpstr>REPRESENTING BINARY TREES IN MEMORY</vt:lpstr>
      <vt:lpstr>Linked Representation of Binary Trees</vt:lpstr>
      <vt:lpstr>Linked Representation of Binary Trees</vt:lpstr>
      <vt:lpstr>Sequential Representation of Binary Trees</vt:lpstr>
      <vt:lpstr>Sequential Representation of Binary Trees</vt:lpstr>
      <vt:lpstr>TRAVERSING BINARY TREES</vt:lpstr>
      <vt:lpstr>Example</vt:lpstr>
      <vt:lpstr>Example</vt:lpstr>
      <vt:lpstr>Preorder Traversal</vt:lpstr>
      <vt:lpstr>Preorder Traversal</vt:lpstr>
      <vt:lpstr>Inorder Traversal</vt:lpstr>
      <vt:lpstr>Post Order Traversal</vt:lpstr>
      <vt:lpstr>Slide 14</vt:lpstr>
      <vt:lpstr>Slide 15</vt:lpstr>
      <vt:lpstr>Binary Search Tree (BST)</vt:lpstr>
      <vt:lpstr>Searching and Inserting in Binary Search Tree</vt:lpstr>
      <vt:lpstr>Example</vt:lpstr>
      <vt:lpstr>Slide 19</vt:lpstr>
      <vt:lpstr>Slide 20</vt:lpstr>
      <vt:lpstr>Slide 21</vt:lpstr>
      <vt:lpstr>Slide 22</vt:lpstr>
      <vt:lpstr>Deleting in a Binary Search Tree</vt:lpstr>
      <vt:lpstr>Case A</vt:lpstr>
      <vt:lpstr>Case B</vt:lpstr>
      <vt:lpstr>Case C</vt:lpstr>
      <vt:lpstr>Slide 27</vt:lpstr>
      <vt:lpstr>AVL tree</vt:lpstr>
      <vt:lpstr>Representation of an AVL Searc</vt:lpstr>
      <vt:lpstr>Insertion in an AVL search tree</vt:lpstr>
      <vt:lpstr>LL Rotation</vt:lpstr>
      <vt:lpstr>Example</vt:lpstr>
      <vt:lpstr>RR Rotation</vt:lpstr>
      <vt:lpstr>Example</vt:lpstr>
      <vt:lpstr>Heap</vt:lpstr>
      <vt:lpstr>Inserting into a Heap</vt:lpstr>
      <vt:lpstr>Example</vt:lpstr>
      <vt:lpstr>Example</vt:lpstr>
      <vt:lpstr>Deleting the root of Heap</vt:lpstr>
      <vt:lpstr>Reheaping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</dc:title>
  <dc:creator>DPP</dc:creator>
  <cp:lastModifiedBy>dyp</cp:lastModifiedBy>
  <cp:revision>41</cp:revision>
  <dcterms:created xsi:type="dcterms:W3CDTF">2006-08-16T00:00:00Z</dcterms:created>
  <dcterms:modified xsi:type="dcterms:W3CDTF">2022-12-12T22:27:25Z</dcterms:modified>
</cp:coreProperties>
</file>