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72" r:id="rId13"/>
    <p:sldId id="282" r:id="rId14"/>
    <p:sldId id="270" r:id="rId15"/>
    <p:sldId id="274" r:id="rId16"/>
    <p:sldId id="273" r:id="rId17"/>
    <p:sldId id="275" r:id="rId18"/>
    <p:sldId id="276" r:id="rId19"/>
    <p:sldId id="280" r:id="rId20"/>
    <p:sldId id="277" r:id="rId21"/>
    <p:sldId id="281" r:id="rId22"/>
    <p:sldId id="278" r:id="rId23"/>
    <p:sldId id="279" r:id="rId24"/>
    <p:sldId id="283" r:id="rId25"/>
    <p:sldId id="284" r:id="rId26"/>
    <p:sldId id="286" r:id="rId27"/>
    <p:sldId id="285" r:id="rId28"/>
    <p:sldId id="287" r:id="rId29"/>
    <p:sldId id="288" r:id="rId30"/>
    <p:sldId id="289" r:id="rId31"/>
    <p:sldId id="308" r:id="rId32"/>
    <p:sldId id="309" r:id="rId33"/>
    <p:sldId id="290" r:id="rId34"/>
    <p:sldId id="291" r:id="rId35"/>
    <p:sldId id="292" r:id="rId36"/>
    <p:sldId id="295" r:id="rId37"/>
    <p:sldId id="293" r:id="rId38"/>
    <p:sldId id="294" r:id="rId39"/>
    <p:sldId id="301" r:id="rId40"/>
    <p:sldId id="296" r:id="rId41"/>
    <p:sldId id="297" r:id="rId42"/>
    <p:sldId id="305" r:id="rId43"/>
    <p:sldId id="298" r:id="rId44"/>
    <p:sldId id="303" r:id="rId45"/>
    <p:sldId id="304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Sorting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Sorting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Sorting Algorithm is used to rearrange a given array or list elements in either in increasing (ascending) or decreasing (descending) order.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For example </a:t>
            </a:r>
          </a:p>
          <a:p>
            <a:pPr>
              <a:buNone/>
            </a:pPr>
            <a:r>
              <a:rPr lang="en-US" dirty="0" smtClean="0"/>
              <a:t>1:</a:t>
            </a:r>
          </a:p>
          <a:p>
            <a:pPr>
              <a:buNone/>
            </a:pPr>
            <a:r>
              <a:rPr lang="en-US" dirty="0" smtClean="0"/>
              <a:t>   Input:    56   23    11    28    48</a:t>
            </a:r>
          </a:p>
          <a:p>
            <a:pPr>
              <a:buNone/>
            </a:pPr>
            <a:r>
              <a:rPr lang="en-US" dirty="0" smtClean="0"/>
              <a:t>   Output: 11   23    28    48    56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2:</a:t>
            </a:r>
          </a:p>
          <a:p>
            <a:pPr>
              <a:buNone/>
            </a:pPr>
            <a:r>
              <a:rPr lang="en-US" dirty="0" smtClean="0"/>
              <a:t>   Input:     r    e    w    b    o</a:t>
            </a:r>
          </a:p>
          <a:p>
            <a:pPr>
              <a:buNone/>
            </a:pPr>
            <a:r>
              <a:rPr lang="en-US" dirty="0" smtClean="0"/>
              <a:t>   Output:  b   e    o     r     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sorting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Bubble sort, </a:t>
            </a:r>
          </a:p>
          <a:p>
            <a:r>
              <a:rPr lang="en-US" dirty="0" smtClean="0"/>
              <a:t>Selection sort,</a:t>
            </a:r>
          </a:p>
          <a:p>
            <a:r>
              <a:rPr lang="en-US" dirty="0" smtClean="0"/>
              <a:t>Insertion sort,</a:t>
            </a:r>
          </a:p>
          <a:p>
            <a:r>
              <a:rPr lang="en-US" dirty="0" smtClean="0"/>
              <a:t>Merge sort, </a:t>
            </a:r>
          </a:p>
          <a:p>
            <a:r>
              <a:rPr lang="en-US" dirty="0" smtClean="0"/>
              <a:t>Quick sort, </a:t>
            </a:r>
          </a:p>
          <a:p>
            <a:r>
              <a:rPr lang="en-US" dirty="0" smtClean="0"/>
              <a:t>Radix sort, </a:t>
            </a:r>
          </a:p>
          <a:p>
            <a:r>
              <a:rPr lang="en-US" dirty="0" smtClean="0"/>
              <a:t>Tim sort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19400"/>
            <a:ext cx="8229600" cy="1143000"/>
          </a:xfrm>
        </p:spPr>
        <p:txBody>
          <a:bodyPr/>
          <a:lstStyle/>
          <a:p>
            <a:r>
              <a:rPr lang="en-US" dirty="0" smtClean="0"/>
              <a:t>Bubble Sort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ubble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47800" y="762000"/>
            <a:ext cx="6781800" cy="507980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Bubble Sort</a:t>
            </a:r>
            <a:endParaRPr lang="en-US" dirty="0"/>
          </a:p>
        </p:txBody>
      </p:sp>
      <p:pic>
        <p:nvPicPr>
          <p:cNvPr id="4" name="Content Placeholder 3" descr="bubbl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1371600"/>
            <a:ext cx="7624456" cy="4419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3200"/>
            <a:ext cx="8229600" cy="1143000"/>
          </a:xfrm>
        </p:spPr>
        <p:txBody>
          <a:bodyPr/>
          <a:lstStyle/>
          <a:p>
            <a:r>
              <a:rPr lang="en-US" dirty="0" smtClean="0"/>
              <a:t>Algorithm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ubble sort algorithm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95400" y="0"/>
            <a:ext cx="6914255" cy="3048000"/>
          </a:xfrm>
        </p:spPr>
      </p:pic>
      <p:pic>
        <p:nvPicPr>
          <p:cNvPr id="7" name="Picture 6" descr="bubble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19400" y="3048000"/>
            <a:ext cx="3124200" cy="35073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Best Case - </a:t>
            </a:r>
            <a:r>
              <a:rPr lang="el-GR" dirty="0" smtClean="0"/>
              <a:t>Ω</a:t>
            </a:r>
            <a:r>
              <a:rPr lang="en-US" dirty="0" smtClean="0"/>
              <a:t>(n)</a:t>
            </a:r>
          </a:p>
          <a:p>
            <a:r>
              <a:rPr lang="en-US" dirty="0" smtClean="0"/>
              <a:t>Average Case – </a:t>
            </a:r>
            <a:r>
              <a:rPr lang="el-GR" dirty="0" smtClean="0"/>
              <a:t>θ</a:t>
            </a:r>
            <a:r>
              <a:rPr lang="en-US" dirty="0" smtClean="0"/>
              <a:t>(n^2)</a:t>
            </a:r>
          </a:p>
          <a:p>
            <a:r>
              <a:rPr lang="en-US" dirty="0" smtClean="0"/>
              <a:t>Worst Case – O(n^2)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09600"/>
            <a:ext cx="4343400" cy="60960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smtClean="0"/>
              <a:t>void main()</a:t>
            </a:r>
          </a:p>
          <a:p>
            <a:pPr>
              <a:buNone/>
            </a:pPr>
            <a:r>
              <a:rPr lang="en-US" dirty="0" smtClean="0"/>
              <a:t>{ 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err="1" smtClean="0"/>
              <a:t>int</a:t>
            </a:r>
            <a:r>
              <a:rPr lang="en-US" dirty="0" smtClean="0"/>
              <a:t> a[10], n, </a:t>
            </a:r>
            <a:r>
              <a:rPr lang="en-US" dirty="0" err="1" smtClean="0"/>
              <a:t>i</a:t>
            </a:r>
            <a:r>
              <a:rPr lang="en-US" dirty="0" smtClean="0"/>
              <a:t>, j, temp; 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("\n Enter number of elements: ");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scanf</a:t>
            </a:r>
            <a:r>
              <a:rPr lang="en-US" dirty="0" smtClean="0"/>
              <a:t>("%d", &amp;n); 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err="1" smtClean="0"/>
              <a:t>printf</a:t>
            </a:r>
            <a:r>
              <a:rPr lang="en-US" dirty="0" smtClean="0"/>
              <a:t>("\n Enter %d integers\n", n);  </a:t>
            </a:r>
          </a:p>
          <a:p>
            <a:pPr>
              <a:buNone/>
            </a:pPr>
            <a:r>
              <a:rPr lang="en-US" dirty="0" smtClean="0"/>
              <a:t>	for (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n; </a:t>
            </a:r>
            <a:r>
              <a:rPr lang="en-US" dirty="0" err="1" smtClean="0"/>
              <a:t>i</a:t>
            </a:r>
            <a:r>
              <a:rPr lang="en-US" dirty="0" smtClean="0"/>
              <a:t>++)   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scanf</a:t>
            </a:r>
            <a:r>
              <a:rPr lang="en-US" dirty="0" smtClean="0"/>
              <a:t>("%d", &amp;a[</a:t>
            </a:r>
            <a:r>
              <a:rPr lang="en-US" dirty="0" err="1" smtClean="0"/>
              <a:t>i</a:t>
            </a:r>
            <a:r>
              <a:rPr lang="en-US" dirty="0" smtClean="0"/>
              <a:t>]);  </a:t>
            </a:r>
          </a:p>
          <a:p>
            <a:pPr>
              <a:buNone/>
            </a:pPr>
            <a:r>
              <a:rPr lang="en-US" dirty="0" smtClean="0"/>
              <a:t>	for (</a:t>
            </a:r>
            <a:r>
              <a:rPr lang="en-US" dirty="0" err="1" smtClean="0"/>
              <a:t>i</a:t>
            </a:r>
            <a:r>
              <a:rPr lang="en-US" dirty="0" smtClean="0"/>
              <a:t> = 0 ; </a:t>
            </a:r>
            <a:r>
              <a:rPr lang="en-US" dirty="0" err="1" smtClean="0"/>
              <a:t>i</a:t>
            </a:r>
            <a:r>
              <a:rPr lang="en-US" dirty="0" smtClean="0"/>
              <a:t> &lt; n - 1; </a:t>
            </a:r>
            <a:r>
              <a:rPr lang="en-US" dirty="0" err="1" smtClean="0"/>
              <a:t>i</a:t>
            </a:r>
            <a:r>
              <a:rPr lang="en-US" dirty="0" smtClean="0"/>
              <a:t>++)  </a:t>
            </a:r>
          </a:p>
          <a:p>
            <a:pPr>
              <a:buNone/>
            </a:pPr>
            <a:r>
              <a:rPr lang="en-US" dirty="0" smtClean="0"/>
              <a:t>	{    </a:t>
            </a:r>
          </a:p>
          <a:p>
            <a:pPr>
              <a:buNone/>
            </a:pPr>
            <a:r>
              <a:rPr lang="en-US" dirty="0" smtClean="0"/>
              <a:t>		for (j = 0 ; j &lt; n - </a:t>
            </a:r>
            <a:r>
              <a:rPr lang="en-US" dirty="0" err="1" smtClean="0"/>
              <a:t>i</a:t>
            </a:r>
            <a:r>
              <a:rPr lang="en-US" dirty="0" smtClean="0"/>
              <a:t> - 1; j++)    </a:t>
            </a:r>
          </a:p>
          <a:p>
            <a:pPr>
              <a:buNone/>
            </a:pPr>
            <a:r>
              <a:rPr lang="en-US" dirty="0" smtClean="0"/>
              <a:t>		{     </a:t>
            </a:r>
          </a:p>
          <a:p>
            <a:pPr>
              <a:buNone/>
            </a:pPr>
            <a:r>
              <a:rPr lang="en-US" dirty="0" smtClean="0"/>
              <a:t>			 if (a[j] &gt; a[j+1])    </a:t>
            </a:r>
          </a:p>
          <a:p>
            <a:pPr>
              <a:buNone/>
            </a:pPr>
            <a:r>
              <a:rPr lang="en-US" dirty="0" smtClean="0"/>
              <a:t> 			  {     </a:t>
            </a:r>
          </a:p>
          <a:p>
            <a:pPr>
              <a:buNone/>
            </a:pPr>
            <a:r>
              <a:rPr lang="en-US" dirty="0" smtClean="0"/>
              <a:t>  				 temp  = a[j];       </a:t>
            </a:r>
          </a:p>
          <a:p>
            <a:pPr>
              <a:buNone/>
            </a:pPr>
            <a:r>
              <a:rPr lang="en-US" dirty="0" smtClean="0"/>
              <a:t>				 a[j]   = a[j+1];        </a:t>
            </a:r>
          </a:p>
          <a:p>
            <a:pPr>
              <a:buNone/>
            </a:pPr>
            <a:r>
              <a:rPr lang="en-US" dirty="0" smtClean="0"/>
              <a:t>				a[j+1] = temp;     </a:t>
            </a:r>
          </a:p>
          <a:p>
            <a:pPr>
              <a:buNone/>
            </a:pPr>
            <a:r>
              <a:rPr lang="en-US" dirty="0" smtClean="0"/>
              <a:t>			 }    </a:t>
            </a:r>
          </a:p>
          <a:p>
            <a:pPr>
              <a:buNone/>
            </a:pPr>
            <a:r>
              <a:rPr lang="en-US" dirty="0" smtClean="0"/>
              <a:t>		}  </a:t>
            </a:r>
          </a:p>
          <a:p>
            <a:pPr>
              <a:buNone/>
            </a:pPr>
            <a:r>
              <a:rPr lang="en-US" dirty="0" smtClean="0"/>
              <a:t>	} 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("Sorted list in ascending order:\n");</a:t>
            </a:r>
          </a:p>
          <a:p>
            <a:pPr>
              <a:buNone/>
            </a:pPr>
            <a:r>
              <a:rPr lang="en-US" dirty="0" smtClean="0"/>
              <a:t>	 for (j = 0; j &lt; n; j++)    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("%d ", a[j]);  return 0;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  <p:pic>
        <p:nvPicPr>
          <p:cNvPr id="5" name="Picture 4" descr="bubble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57799" y="1219199"/>
            <a:ext cx="3429001" cy="38495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Selection Sort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7585" y="1600200"/>
            <a:ext cx="810883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00200"/>
            <a:ext cx="810883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09800"/>
            <a:ext cx="8229600" cy="1143000"/>
          </a:xfrm>
        </p:spPr>
        <p:txBody>
          <a:bodyPr/>
          <a:lstStyle/>
          <a:p>
            <a:r>
              <a:rPr lang="en-US" dirty="0" smtClean="0"/>
              <a:t>Algorithm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200"/>
            <a:ext cx="5560541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76" y="2812134"/>
            <a:ext cx="5560541" cy="2681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1" y="1752600"/>
            <a:ext cx="3886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Best Case - </a:t>
            </a:r>
            <a:r>
              <a:rPr lang="el-GR" dirty="0" smtClean="0"/>
              <a:t>Ω</a:t>
            </a:r>
            <a:r>
              <a:rPr lang="en-US" dirty="0" smtClean="0"/>
              <a:t>(n^2)</a:t>
            </a:r>
          </a:p>
          <a:p>
            <a:r>
              <a:rPr lang="en-US" dirty="0" smtClean="0"/>
              <a:t>Average Case – </a:t>
            </a:r>
            <a:r>
              <a:rPr lang="el-GR" dirty="0" smtClean="0"/>
              <a:t>θ</a:t>
            </a:r>
            <a:r>
              <a:rPr lang="en-US" dirty="0" smtClean="0"/>
              <a:t>(n^2)</a:t>
            </a:r>
          </a:p>
          <a:p>
            <a:r>
              <a:rPr lang="en-US" dirty="0" smtClean="0"/>
              <a:t>Worst Case – O(n^2)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514600"/>
            <a:ext cx="8229600" cy="1143000"/>
          </a:xfrm>
        </p:spPr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4419600" cy="64008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smtClean="0"/>
              <a:t> void main() </a:t>
            </a:r>
          </a:p>
          <a:p>
            <a:pPr>
              <a:buNone/>
            </a:pPr>
            <a:r>
              <a:rPr lang="en-US" dirty="0" smtClean="0"/>
              <a:t>{   </a:t>
            </a:r>
          </a:p>
          <a:p>
            <a:pPr>
              <a:buNone/>
            </a:pPr>
            <a:r>
              <a:rPr lang="en-US" dirty="0" smtClean="0"/>
              <a:t>	 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arr</a:t>
            </a:r>
            <a:r>
              <a:rPr lang="en-US" dirty="0" smtClean="0"/>
              <a:t>[10]={6,12,0,18,11,99,55,45,34,2};  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n=10, </a:t>
            </a:r>
            <a:r>
              <a:rPr lang="en-US" dirty="0" err="1" smtClean="0"/>
              <a:t>i</a:t>
            </a:r>
            <a:r>
              <a:rPr lang="en-US" dirty="0" smtClean="0"/>
              <a:t>, j, position, swap;  </a:t>
            </a:r>
          </a:p>
          <a:p>
            <a:pPr>
              <a:buNone/>
            </a:pPr>
            <a:r>
              <a:rPr lang="en-US" dirty="0" smtClean="0"/>
              <a:t> 	 for (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(n - 1); </a:t>
            </a:r>
            <a:r>
              <a:rPr lang="en-US" dirty="0" err="1" smtClean="0"/>
              <a:t>i</a:t>
            </a:r>
            <a:r>
              <a:rPr lang="en-US" dirty="0" smtClean="0"/>
              <a:t>++)</a:t>
            </a:r>
          </a:p>
          <a:p>
            <a:pPr>
              <a:buNone/>
            </a:pPr>
            <a:r>
              <a:rPr lang="en-US" dirty="0" smtClean="0"/>
              <a:t>	 {       </a:t>
            </a:r>
          </a:p>
          <a:p>
            <a:pPr>
              <a:buNone/>
            </a:pPr>
            <a:r>
              <a:rPr lang="en-US" dirty="0" smtClean="0"/>
              <a:t>		position = </a:t>
            </a:r>
            <a:r>
              <a:rPr lang="en-US" dirty="0" err="1" smtClean="0"/>
              <a:t>i</a:t>
            </a:r>
            <a:r>
              <a:rPr lang="en-US" dirty="0" smtClean="0"/>
              <a:t>;     </a:t>
            </a:r>
          </a:p>
          <a:p>
            <a:pPr>
              <a:buNone/>
            </a:pPr>
            <a:r>
              <a:rPr lang="en-US" dirty="0" smtClean="0"/>
              <a:t>	              for (j = </a:t>
            </a:r>
            <a:r>
              <a:rPr lang="en-US" dirty="0" err="1" smtClean="0"/>
              <a:t>i</a:t>
            </a:r>
            <a:r>
              <a:rPr lang="en-US" dirty="0" smtClean="0"/>
              <a:t> + 1; j &lt; n; j++)</a:t>
            </a:r>
          </a:p>
          <a:p>
            <a:pPr>
              <a:buNone/>
            </a:pPr>
            <a:r>
              <a:rPr lang="en-US" dirty="0" smtClean="0"/>
              <a:t>		{         </a:t>
            </a:r>
          </a:p>
          <a:p>
            <a:pPr>
              <a:buNone/>
            </a:pPr>
            <a:r>
              <a:rPr lang="en-US" dirty="0" smtClean="0"/>
              <a:t> 		   if (</a:t>
            </a:r>
            <a:r>
              <a:rPr lang="en-US" dirty="0" err="1" smtClean="0"/>
              <a:t>arr</a:t>
            </a:r>
            <a:r>
              <a:rPr lang="en-US" dirty="0" smtClean="0"/>
              <a:t>[position] &gt; </a:t>
            </a:r>
            <a:r>
              <a:rPr lang="en-US" dirty="0" err="1" smtClean="0"/>
              <a:t>arr</a:t>
            </a:r>
            <a:r>
              <a:rPr lang="en-US" dirty="0" smtClean="0"/>
              <a:t>[j])             </a:t>
            </a:r>
          </a:p>
          <a:p>
            <a:pPr>
              <a:buNone/>
            </a:pPr>
            <a:r>
              <a:rPr lang="en-US" dirty="0" smtClean="0"/>
              <a:t>		   position = j;      </a:t>
            </a:r>
          </a:p>
          <a:p>
            <a:pPr>
              <a:buNone/>
            </a:pPr>
            <a:r>
              <a:rPr lang="en-US" dirty="0" smtClean="0"/>
              <a:t> 		}      </a:t>
            </a:r>
          </a:p>
          <a:p>
            <a:pPr>
              <a:buNone/>
            </a:pPr>
            <a:r>
              <a:rPr lang="en-US" dirty="0" smtClean="0"/>
              <a:t>		if (position != 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	 {          </a:t>
            </a:r>
          </a:p>
          <a:p>
            <a:pPr>
              <a:buNone/>
            </a:pPr>
            <a:r>
              <a:rPr lang="en-US" dirty="0" smtClean="0"/>
              <a:t>		   swap = 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];         </a:t>
            </a:r>
          </a:p>
          <a:p>
            <a:pPr>
              <a:buNone/>
            </a:pPr>
            <a:r>
              <a:rPr lang="en-US" dirty="0" smtClean="0"/>
              <a:t>    		   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 = </a:t>
            </a:r>
            <a:r>
              <a:rPr lang="en-US" dirty="0" err="1" smtClean="0"/>
              <a:t>arr</a:t>
            </a:r>
            <a:r>
              <a:rPr lang="en-US" dirty="0" smtClean="0"/>
              <a:t>[position];         </a:t>
            </a:r>
          </a:p>
          <a:p>
            <a:pPr>
              <a:buNone/>
            </a:pPr>
            <a:r>
              <a:rPr lang="en-US" dirty="0" smtClean="0"/>
              <a:t>                        </a:t>
            </a:r>
            <a:r>
              <a:rPr lang="en-US" dirty="0" err="1" smtClean="0"/>
              <a:t>arr</a:t>
            </a:r>
            <a:r>
              <a:rPr lang="en-US" dirty="0" smtClean="0"/>
              <a:t>[position] = swap;    </a:t>
            </a:r>
          </a:p>
          <a:p>
            <a:pPr>
              <a:buNone/>
            </a:pPr>
            <a:r>
              <a:rPr lang="en-US" dirty="0" smtClean="0"/>
              <a:t>  		 }    </a:t>
            </a:r>
          </a:p>
          <a:p>
            <a:pPr>
              <a:buNone/>
            </a:pPr>
            <a:r>
              <a:rPr lang="en-US" dirty="0" smtClean="0"/>
              <a:t>	}    </a:t>
            </a:r>
          </a:p>
          <a:p>
            <a:pPr>
              <a:buNone/>
            </a:pPr>
            <a:r>
              <a:rPr lang="en-US" dirty="0" smtClean="0"/>
              <a:t>	for (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n; </a:t>
            </a:r>
            <a:r>
              <a:rPr lang="en-US" dirty="0" err="1" smtClean="0"/>
              <a:t>i</a:t>
            </a:r>
            <a:r>
              <a:rPr lang="en-US" dirty="0" smtClean="0"/>
              <a:t>++)     </a:t>
            </a:r>
          </a:p>
          <a:p>
            <a:pPr>
              <a:buNone/>
            </a:pPr>
            <a:r>
              <a:rPr lang="en-US" dirty="0" smtClean="0"/>
              <a:t>	  </a:t>
            </a:r>
            <a:r>
              <a:rPr lang="en-US" dirty="0" err="1" smtClean="0"/>
              <a:t>printf</a:t>
            </a:r>
            <a:r>
              <a:rPr lang="en-US" dirty="0" smtClean="0"/>
              <a:t>("%d\t", 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]);  </a:t>
            </a:r>
          </a:p>
          <a:p>
            <a:pPr>
              <a:buNone/>
            </a:pPr>
            <a:r>
              <a:rPr lang="en-US" dirty="0" smtClean="0"/>
              <a:t>  }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399" y="1905000"/>
            <a:ext cx="4730151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590800"/>
            <a:ext cx="8229600" cy="1143000"/>
          </a:xfrm>
        </p:spPr>
        <p:txBody>
          <a:bodyPr/>
          <a:lstStyle/>
          <a:p>
            <a:r>
              <a:rPr lang="en-US" dirty="0" smtClean="0"/>
              <a:t>Insertion Sort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638273"/>
            <a:ext cx="7854607" cy="4619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667000"/>
            <a:ext cx="8229600" cy="11430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447800"/>
            <a:ext cx="8080074" cy="3798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0"/>
            <a:ext cx="8229600" cy="1143000"/>
          </a:xfrm>
        </p:spPr>
        <p:txBody>
          <a:bodyPr/>
          <a:lstStyle/>
          <a:p>
            <a:r>
              <a:rPr lang="en-US" dirty="0" smtClean="0"/>
              <a:t>Algorithm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"/>
            <a:ext cx="6400800" cy="2911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048000"/>
            <a:ext cx="6400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33800" y="4343400"/>
            <a:ext cx="4800600" cy="225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Complexity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752600"/>
            <a:ext cx="704809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/>
          <a:lstStyle/>
          <a:p>
            <a:r>
              <a:rPr lang="en-US" dirty="0" smtClean="0"/>
              <a:t>Merge Sort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3342" y="838199"/>
            <a:ext cx="7059058" cy="4965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3200"/>
            <a:ext cx="8229600" cy="1143000"/>
          </a:xfrm>
        </p:spPr>
        <p:txBody>
          <a:bodyPr/>
          <a:lstStyle/>
          <a:p>
            <a:r>
              <a:rPr lang="en-US" dirty="0" smtClean="0"/>
              <a:t>Algorithm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0"/>
            <a:ext cx="4953000" cy="2086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2057400"/>
            <a:ext cx="4953000" cy="450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1210805"/>
            <a:ext cx="3803574" cy="2675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90800"/>
            <a:ext cx="8229600" cy="1143000"/>
          </a:xfrm>
        </p:spPr>
        <p:txBody>
          <a:bodyPr/>
          <a:lstStyle/>
          <a:p>
            <a:r>
              <a:rPr lang="en-US" dirty="0" smtClean="0"/>
              <a:t>Radix Sort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438400"/>
            <a:ext cx="666750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170" y="304800"/>
            <a:ext cx="5351430" cy="6325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Worst case – O(n2)</a:t>
            </a:r>
          </a:p>
          <a:p>
            <a:r>
              <a:rPr lang="en-US" dirty="0" smtClean="0"/>
              <a:t>Best case – O(n log n)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Drawback:</a:t>
            </a:r>
          </a:p>
          <a:p>
            <a:pPr marL="514350" indent="-514350">
              <a:buAutoNum type="arabicPeriod"/>
            </a:pPr>
            <a:r>
              <a:rPr lang="en-US" dirty="0" smtClean="0"/>
              <a:t>It perform well only when the number passes of digits in the representation of the A is small.</a:t>
            </a:r>
          </a:p>
          <a:p>
            <a:pPr marL="514350" indent="-514350">
              <a:buNone/>
            </a:pPr>
            <a:r>
              <a:rPr lang="en-US" dirty="0" smtClean="0"/>
              <a:t>2.	It needs d*n memory locations.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pitchFamily="34" charset="0"/>
              <a:buAutoNum type="arabicPeriod"/>
            </a:pPr>
            <a:r>
              <a:rPr lang="en-US" dirty="0" smtClean="0"/>
              <a:t>23   67  45   90   64   32   18  28</a:t>
            </a:r>
          </a:p>
          <a:p>
            <a:pPr marL="514350" indent="-514350">
              <a:buAutoNum type="arabicPeriod"/>
            </a:pPr>
            <a:r>
              <a:rPr lang="en-US" dirty="0" smtClean="0"/>
              <a:t>4563  2134   2178  5643  1220  3980  5123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dirty="0" smtClean="0"/>
              <a:t>Example:</a:t>
            </a:r>
          </a:p>
          <a:p>
            <a:pPr>
              <a:buNone/>
            </a:pPr>
            <a:r>
              <a:rPr lang="en-US" dirty="0" smtClean="0"/>
              <a:t>44, 33, 11, 55, 77, 90, 40, 60, 99, 22, 88, 66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Prerequisite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Recursion</a:t>
            </a:r>
          </a:p>
          <a:p>
            <a:pPr marL="514350" indent="-514350">
              <a:buAutoNum type="arabicPeriod"/>
            </a:pPr>
            <a:r>
              <a:rPr lang="en-US" dirty="0" smtClean="0"/>
              <a:t>Stack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143000"/>
          </a:xfrm>
        </p:spPr>
        <p:txBody>
          <a:bodyPr/>
          <a:lstStyle/>
          <a:p>
            <a:r>
              <a:rPr lang="en-US" dirty="0" smtClean="0"/>
              <a:t>Algorithm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1" y="152400"/>
            <a:ext cx="4876800" cy="1781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905000"/>
            <a:ext cx="4114800" cy="2545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68195" y="2819401"/>
            <a:ext cx="432340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1" y="0"/>
            <a:ext cx="6095999" cy="2400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221057"/>
            <a:ext cx="6096000" cy="4416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Best case- n log n</a:t>
            </a:r>
          </a:p>
          <a:p>
            <a:r>
              <a:rPr lang="en-US" dirty="0" smtClean="0"/>
              <a:t>Average case- n log n</a:t>
            </a:r>
          </a:p>
          <a:p>
            <a:r>
              <a:rPr lang="en-US" dirty="0" smtClean="0"/>
              <a:t>Worst Case – n2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143000"/>
          </a:xfrm>
        </p:spPr>
        <p:txBody>
          <a:bodyPr/>
          <a:lstStyle/>
          <a:p>
            <a:r>
              <a:rPr lang="en-US" dirty="0" smtClean="0"/>
              <a:t>Tim Sort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Tim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	-derived from insertion sort and merge sort. </a:t>
            </a:r>
          </a:p>
          <a:p>
            <a:pPr>
              <a:buNone/>
            </a:pPr>
            <a:r>
              <a:rPr lang="en-US" dirty="0" smtClean="0"/>
              <a:t>	-perform in an optimal way on different kind of real world data. </a:t>
            </a:r>
          </a:p>
          <a:p>
            <a:pPr>
              <a:buNone/>
            </a:pPr>
            <a:r>
              <a:rPr lang="en-US" dirty="0" smtClean="0"/>
              <a:t>	-needs O(n log n) comparisons to sort an array of n elements. </a:t>
            </a:r>
          </a:p>
          <a:p>
            <a:pPr>
              <a:buNone/>
            </a:pPr>
            <a:r>
              <a:rPr lang="en-US" dirty="0" smtClean="0"/>
              <a:t>	-designed and implemented by Tim Peters in 2002 in python programming language. </a:t>
            </a:r>
          </a:p>
          <a:p>
            <a:pPr>
              <a:buNone/>
            </a:pPr>
            <a:r>
              <a:rPr lang="en-US" dirty="0" smtClean="0"/>
              <a:t>	-array is divided into several parts where each of them is called a </a:t>
            </a:r>
            <a:r>
              <a:rPr lang="en-US" dirty="0" smtClean="0">
                <a:solidFill>
                  <a:srgbClr val="FF0000"/>
                </a:solidFill>
              </a:rPr>
              <a:t>Run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-Runs are sorted by using insertion sort one by one and then the sorted runs get combined using merging. 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399" y="685800"/>
            <a:ext cx="8282277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sz="2800" dirty="0" smtClean="0"/>
              <a:t>23 89 56 30 45 29 65 32 12 41 68 52 19 34 88 25 34 56 44 11</a:t>
            </a:r>
            <a:endParaRPr lang="en-US" sz="28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28600" y="2133600"/>
            <a:ext cx="2057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438400" y="2133600"/>
            <a:ext cx="19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724400" y="2133600"/>
            <a:ext cx="19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934200" y="2133600"/>
            <a:ext cx="19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600" y="2209800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    Run 1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743200" y="2209800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    Run 2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029200" y="2209800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    Run 3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162800" y="2209800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    Run 4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0"/>
            <a:ext cx="7848600" cy="68580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Procedure: minimum(a, b)</a:t>
            </a:r>
          </a:p>
          <a:p>
            <a:pPr>
              <a:buNone/>
            </a:pPr>
            <a:r>
              <a:rPr lang="en-US" dirty="0" smtClean="0"/>
              <a:t>	This procedure find minimum number between two numbers</a:t>
            </a:r>
          </a:p>
          <a:p>
            <a:pPr>
              <a:buNone/>
            </a:pPr>
            <a:r>
              <a:rPr lang="en-US" dirty="0" smtClean="0"/>
              <a:t>    If  </a:t>
            </a:r>
            <a:r>
              <a:rPr lang="en-US" dirty="0" smtClean="0"/>
              <a:t>a &lt; </a:t>
            </a:r>
            <a:r>
              <a:rPr lang="en-US" dirty="0" smtClean="0"/>
              <a:t>b, then: return a.</a:t>
            </a:r>
          </a:p>
          <a:p>
            <a:pPr>
              <a:buNone/>
            </a:pPr>
            <a:r>
              <a:rPr lang="en-US" dirty="0" smtClean="0"/>
              <a:t>    Else: return b.</a:t>
            </a:r>
          </a:p>
          <a:p>
            <a:pPr>
              <a:buNone/>
            </a:pPr>
            <a:r>
              <a:rPr lang="en-US" dirty="0" smtClean="0"/>
              <a:t>	 [End of If structure]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Algorithm: TIMSORT(A,N)</a:t>
            </a:r>
          </a:p>
          <a:p>
            <a:pPr>
              <a:buNone/>
            </a:pPr>
            <a:r>
              <a:rPr lang="en-US" dirty="0" smtClean="0"/>
              <a:t>This algorithm sort the N-element array A.</a:t>
            </a:r>
          </a:p>
          <a:p>
            <a:pPr>
              <a:buNone/>
            </a:pPr>
            <a:r>
              <a:rPr lang="en-US" dirty="0" smtClean="0"/>
              <a:t>1.[Initialize]Set run=32, </a:t>
            </a:r>
            <a:r>
              <a:rPr lang="en-US" dirty="0" err="1" smtClean="0"/>
              <a:t>i</a:t>
            </a:r>
            <a:r>
              <a:rPr lang="en-US" dirty="0" smtClean="0"/>
              <a:t>=0</a:t>
            </a:r>
          </a:p>
          <a:p>
            <a:pPr>
              <a:buNone/>
            </a:pPr>
            <a:r>
              <a:rPr lang="en-US" dirty="0" smtClean="0"/>
              <a:t>2. Repeat while </a:t>
            </a:r>
            <a:r>
              <a:rPr lang="en-US" dirty="0" err="1" smtClean="0"/>
              <a:t>i</a:t>
            </a:r>
            <a:r>
              <a:rPr lang="en-US" dirty="0" smtClean="0"/>
              <a:t> &lt; n</a:t>
            </a:r>
          </a:p>
          <a:p>
            <a:pPr>
              <a:buNone/>
            </a:pPr>
            <a:r>
              <a:rPr lang="en-US" dirty="0" smtClean="0"/>
              <a:t>    a. Call insertionsort (a, </a:t>
            </a:r>
            <a:r>
              <a:rPr lang="en-US" dirty="0" err="1" smtClean="0"/>
              <a:t>i</a:t>
            </a:r>
            <a:r>
              <a:rPr lang="en-US" dirty="0" smtClean="0"/>
              <a:t>, minimum((i+31),(n-1))).</a:t>
            </a:r>
          </a:p>
          <a:p>
            <a:pPr>
              <a:buNone/>
            </a:pPr>
            <a:r>
              <a:rPr lang="en-US" dirty="0" smtClean="0"/>
              <a:t>    b. Set </a:t>
            </a:r>
            <a:r>
              <a:rPr lang="en-US" dirty="0" err="1" smtClean="0"/>
              <a:t>i</a:t>
            </a:r>
            <a:r>
              <a:rPr lang="en-US" dirty="0" smtClean="0"/>
              <a:t>+=run.</a:t>
            </a:r>
          </a:p>
          <a:p>
            <a:pPr>
              <a:buNone/>
            </a:pPr>
            <a:r>
              <a:rPr lang="en-US" dirty="0" smtClean="0"/>
              <a:t>    [End of step 2 loop]</a:t>
            </a:r>
          </a:p>
          <a:p>
            <a:pPr>
              <a:buNone/>
            </a:pPr>
            <a:r>
              <a:rPr lang="en-US" dirty="0" smtClean="0"/>
              <a:t>3. Set size = run</a:t>
            </a:r>
          </a:p>
          <a:p>
            <a:pPr>
              <a:buNone/>
            </a:pPr>
            <a:r>
              <a:rPr lang="en-US" dirty="0" smtClean="0"/>
              <a:t>4. Repeat while size &lt; n</a:t>
            </a:r>
          </a:p>
          <a:p>
            <a:pPr>
              <a:buNone/>
            </a:pPr>
            <a:r>
              <a:rPr lang="en-US" dirty="0" smtClean="0"/>
              <a:t>	a. Set beg=0</a:t>
            </a:r>
          </a:p>
          <a:p>
            <a:pPr>
              <a:buNone/>
            </a:pPr>
            <a:r>
              <a:rPr lang="en-US" dirty="0" smtClean="0"/>
              <a:t>	b. Repeat while beg&lt;n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i</a:t>
            </a:r>
            <a:r>
              <a:rPr lang="en-US" dirty="0" smtClean="0"/>
              <a:t>. mid= beg+size-1</a:t>
            </a:r>
          </a:p>
          <a:p>
            <a:pPr>
              <a:buNone/>
            </a:pPr>
            <a:r>
              <a:rPr lang="en-US" dirty="0" smtClean="0"/>
              <a:t>		ii. end=minimum((beg+2*size-1),(n-1))</a:t>
            </a:r>
          </a:p>
          <a:p>
            <a:pPr>
              <a:buNone/>
            </a:pPr>
            <a:r>
              <a:rPr lang="en-US" dirty="0" smtClean="0"/>
              <a:t>		iii. Call merge(</a:t>
            </a:r>
            <a:r>
              <a:rPr lang="en-US" dirty="0" err="1" smtClean="0"/>
              <a:t>a,big,mid,end</a:t>
            </a:r>
            <a:r>
              <a:rPr lang="en-US" dirty="0" smtClean="0"/>
              <a:t>));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iv. beg+=2*size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[End of while loop</a:t>
            </a:r>
            <a:r>
              <a:rPr lang="en-US" dirty="0" smtClean="0"/>
              <a:t>]</a:t>
            </a:r>
          </a:p>
          <a:p>
            <a:pPr>
              <a:buNone/>
            </a:pPr>
            <a:r>
              <a:rPr lang="en-US" dirty="0" smtClean="0"/>
              <a:t>	c. size=2*size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[End of Step 4 loop]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914400"/>
            <a:ext cx="8092417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308</Words>
  <Application>Microsoft Office PowerPoint</Application>
  <PresentationFormat>On-screen Show (4:3)</PresentationFormat>
  <Paragraphs>148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Sorting</vt:lpstr>
      <vt:lpstr>Sorting</vt:lpstr>
      <vt:lpstr>Types of sorting techniques</vt:lpstr>
      <vt:lpstr>Bubble Sort</vt:lpstr>
      <vt:lpstr>Slide 5</vt:lpstr>
      <vt:lpstr>Bubble Sort</vt:lpstr>
      <vt:lpstr>Algorithm</vt:lpstr>
      <vt:lpstr>Slide 8</vt:lpstr>
      <vt:lpstr>Complexity</vt:lpstr>
      <vt:lpstr>Implementation</vt:lpstr>
      <vt:lpstr>Selection Sort</vt:lpstr>
      <vt:lpstr>Algorithm</vt:lpstr>
      <vt:lpstr>Slide 13</vt:lpstr>
      <vt:lpstr>Complexity</vt:lpstr>
      <vt:lpstr>Implementation</vt:lpstr>
      <vt:lpstr>Slide 16</vt:lpstr>
      <vt:lpstr>Insertion Sort</vt:lpstr>
      <vt:lpstr>Slide 18</vt:lpstr>
      <vt:lpstr>Example</vt:lpstr>
      <vt:lpstr>Slide 20</vt:lpstr>
      <vt:lpstr>Algorithm</vt:lpstr>
      <vt:lpstr>Slide 22</vt:lpstr>
      <vt:lpstr>Complexity</vt:lpstr>
      <vt:lpstr>Merge Sort</vt:lpstr>
      <vt:lpstr>Slide 25</vt:lpstr>
      <vt:lpstr>Algorithm</vt:lpstr>
      <vt:lpstr>Slide 27</vt:lpstr>
      <vt:lpstr>Radix Sort</vt:lpstr>
      <vt:lpstr>Slide 29</vt:lpstr>
      <vt:lpstr>Slide 30</vt:lpstr>
      <vt:lpstr>Complexity</vt:lpstr>
      <vt:lpstr>Slide 32</vt:lpstr>
      <vt:lpstr>Examples</vt:lpstr>
      <vt:lpstr>Quick sort</vt:lpstr>
      <vt:lpstr>Prerequisite </vt:lpstr>
      <vt:lpstr>Algorithm</vt:lpstr>
      <vt:lpstr>Slide 37</vt:lpstr>
      <vt:lpstr>Slide 38</vt:lpstr>
      <vt:lpstr>Complexity</vt:lpstr>
      <vt:lpstr>Tim Sort</vt:lpstr>
      <vt:lpstr>Tim Sort</vt:lpstr>
      <vt:lpstr>Slide 42</vt:lpstr>
      <vt:lpstr>Example</vt:lpstr>
      <vt:lpstr>Slide 44</vt:lpstr>
      <vt:lpstr>Slide 45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</dc:title>
  <dc:creator>USER</dc:creator>
  <cp:lastModifiedBy>DPP</cp:lastModifiedBy>
  <cp:revision>55</cp:revision>
  <dcterms:created xsi:type="dcterms:W3CDTF">2006-08-16T00:00:00Z</dcterms:created>
  <dcterms:modified xsi:type="dcterms:W3CDTF">2021-10-18T06:02:39Z</dcterms:modified>
</cp:coreProperties>
</file>